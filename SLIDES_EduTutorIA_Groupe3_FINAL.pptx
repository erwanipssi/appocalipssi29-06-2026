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8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0C2"/>
    <a:srgbClr val="10B981"/>
    <a:srgbClr val="F59E0B"/>
    <a:srgbClr val="636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594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45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232E4A"/>
          </a:solidFill>
          <a:ln w="12700">
            <a:solidFill>
              <a:srgbClr val="23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EduTutor IA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un cours en quiz — 100 % local &amp; souverain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Django/DRF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48840" y="25603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PostgreSQL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0" y="25603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React Vite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25603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Docker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23760" y="25603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Ollama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462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Dillon AZAG · Steven JANSEN · Nassim DEFLANDRE · Erwan MARCHAND · Rayan Degane WAFO MBE · Youcef OULD KACI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: EduTutor 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qui 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Étudiant·e du supérieur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Réviser à partir de ses propres cours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Enseignant·e (Mme Lefèvre)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des évaluations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personas primaires → produit dual-usage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4206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différenciateurs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0848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20848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 (Ollama), aucune donnée ne sort du serveur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788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27889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&amp; RGAA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2990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par conception dès le départ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4930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3493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 secondes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36941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quiz fiable généré en moins d'une minute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41970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4197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43982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Django/DRF · PostgreSQL · React Vite · Docker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SOMMAIRE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</a:rPr>
              <a:t>1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96112" y="16733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&amp; le MVP (F1–F6)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21992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313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</a:rPr>
              <a:t>2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6112" y="22951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843784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2935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</a:rPr>
              <a:t>3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6112" y="29169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rôles clés (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</a:t>
            </a: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46557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</a:rPr>
              <a:t>4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6112" y="35387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démarche Agile &amp; nos artefacts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4178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</a:rPr>
              <a:t>5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6112" y="4160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perturbations (J1 → J5) + zoom ADR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160020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</a:rPr>
              <a:t>6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85232" y="16733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des artefacts (v1.0 → v1.5)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2221992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64608" y="2313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</a:rPr>
              <a:t>7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85232" y="22951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2843784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64608" y="2935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</a:rPr>
              <a:t>8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85232" y="29169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346557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64608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</a:rPr>
              <a:t>9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5285232" y="35387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Questions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L'ÉQUIPE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</a:t>
            </a:r>
            <a:r>
              <a:rPr lang="en-US" sz="3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</a:rPr>
              <a:t>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Dillon AZAG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69748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97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Product Owner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366F1"/>
                </a:solidFill>
              </a:rPr>
              <a:t>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37560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JANSEN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69748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697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</a:rPr>
              <a:t>Scrum Master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600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</a:rPr>
              <a:t>N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17920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Nassim DEFLANDRE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69748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697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Développeur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7160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</a:rPr>
              <a:t>E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5720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Erwan MARCHAND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29768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Développeur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4612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51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</a:rPr>
              <a:t>R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333756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Rayan D. WAFO MBE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429768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Développeur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3232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</a:rPr>
              <a:t>Y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621792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Youcef OULD KACI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37960" y="429768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Développeur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RÔLES CLÉS · PRODUCT OWNER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· </a:t>
            </a:r>
            <a:r>
              <a:rPr lang="fr-FR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piloté</a:t>
            </a:r>
            <a:endParaRPr lang="fr-FR" sz="3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QUOI / POURQUOI — tourné vers le client et la valeur produit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27632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2763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10512"/>
            <a:ext cx="2651760" cy="1645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55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Backlog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Détient et priorise le Product Backlog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MoSCoW (MUST → WON'T)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format INVEST + critères Given/When/Then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le client / la Direction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627632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62763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810512"/>
            <a:ext cx="26517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55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produit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029968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: enseignante = persona primaire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: valide l'ADR (choix moteur LLM)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: repriorise scope (scale/a11y/i18n)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 ce qui entre en Release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27632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2763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10512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55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livrée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029968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la Definition of Ready / Done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 les US en Sprint Review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le MVP (tag v1.0.0-mvp)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le cap sur la valeur utilisateur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PO garantit qu'on construit le bon produit, dans le bon ordre. »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818CF8"/>
                </a:solidFill>
              </a:rPr>
              <a:t>RÔLES CLÉS · SCRUM MASTER</a:t>
            </a:r>
            <a:endParaRPr lang="en-US" sz="750" b="1" dirty="0">
              <a:solidFill>
                <a:srgbClr val="818CF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32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r>
              <a:rPr lang="fr-FR" sz="3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Master · Ce que j'ai piloté</a:t>
            </a:r>
            <a:endParaRPr lang="fr-FR" sz="3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COMMENT — garant de la méthode et de l'équipe 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27632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2763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10512"/>
            <a:ext cx="2651760" cy="1645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55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Cérémonies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animées</a:t>
            </a:r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</a:t>
            </a:r>
            <a:r>
              <a:rPr lang="en-US" sz="11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</a:t>
            </a:r>
            <a:endParaRPr lang="en-US" sz="1100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× 5 </a:t>
            </a:r>
            <a:r>
              <a:rPr lang="en-US" sz="11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jrs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max)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J5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46120" y="1627632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62763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810512"/>
            <a:ext cx="26517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55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Blocages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levés</a:t>
            </a:r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83280" y="2029968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: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panique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 →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cadré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ADR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: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scale/RGAA → arbitrage scope avec PO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Docker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bloquant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escalade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daily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scope creep continue</a:t>
            </a: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26480" y="1627632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2763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10512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55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2029968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fr-F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</a:t>
            </a:r>
            <a:r>
              <a: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fr-F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Burnup</a:t>
            </a:r>
            <a:r>
              <a: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tenus à jour quotidiennement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fr-F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 </a:t>
            </a:r>
            <a:r>
              <a:rPr lang="fr-F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r>
              <a: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Issues / statuts / assignations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fr-F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r>
              <a: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fr-F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</a:t>
            </a:r>
            <a:r>
              <a: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respectés sur chaque PR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légales (J4 RGPD) livrées en avance</a:t>
            </a:r>
            <a:endParaRPr lang="fr-F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5 perturbations. 0 décision au feeling. »</a:t>
            </a:r>
          </a:p>
        </p:txBody>
      </p:sp>
      <p:sp>
        <p:nvSpPr>
          <p:cNvPr id="23" name="Text 21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895598"/>
            <a:ext cx="457200" cy="457200"/>
          </a:xfrm>
          <a:prstGeom prst="rect">
            <a:avLst/>
          </a:prstGeom>
          <a:solidFill>
            <a:srgbClr val="6366F1"/>
          </a:solidFill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3895598"/>
            <a:ext cx="457200" cy="457200"/>
          </a:xfrm>
          <a:prstGeom prst="rect">
            <a:avLst/>
          </a:prstGeom>
          <a:solidFill>
            <a:srgbClr val="F59E0B"/>
          </a:solidFill>
        </p:spPr>
      </p:pic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3895598"/>
            <a:ext cx="457200" cy="457200"/>
          </a:xfrm>
          <a:prstGeom prst="rect">
            <a:avLst/>
          </a:prstGeom>
          <a:solidFill>
            <a:srgbClr val="10B981"/>
          </a:solidFill>
        </p:spPr>
      </p:pic>
    </p:spTree>
    <p:extLst>
      <p:ext uri="{BB962C8B-B14F-4D97-AF65-F5344CB8AC3E}">
        <p14:creationId xmlns:p14="http://schemas.microsoft.com/office/powerpoint/2010/main" val="264559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LE PRODUIT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MVP : 6 features (Release 1)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82880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28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6F1"/>
                </a:solidFill>
              </a:rPr>
              <a:t>F1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/ connexion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validation par lien, reset mot de passe, profil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82880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828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F2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1645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d'un cours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965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≤ 5 Mo ou texte ≥ 200 caractères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297180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71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F3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2788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des QCM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108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automatiques via LLM local Ollama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297180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971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F4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2788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automatique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108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bonne réponse par QCM, évaluation instantanée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" y="411480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114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</a:rPr>
              <a:t>F5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7280" y="3931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détail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251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/10 + détail des bonnes/mauvaises réponses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8404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411480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4114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</a:rPr>
              <a:t>F6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4251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persistés par utilisateur, suivi de progression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NOTRE DÉMARCHE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semaine pilotée par les artefacts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40233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artefacts agiles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Board · Personas · Customer Journey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· Product Backlog (MoSCoW, INVEST)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Planning (+ Burnup) · Sprint Backlog (+ Burndown)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(décision technique) · Analyse de risques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décision MoSCoW · DoR / DoD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1148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méthode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084832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fichier « dernière version » + feuille Historique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Versionné à chaque perturbation (v1.0 → v1.5)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répartis dans l'équipe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via GitHub Issues / Projects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Mesurer avant d'optimiser » : décisions tracées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ZOOM · ARTEFACTS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documents, en vrai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— 32 US priorisées (MoSCoW)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6344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 S6 — tâches en cours</a:t>
            </a:r>
            <a:endParaRPr lang="en-US" sz="1100" dirty="0"/>
          </a:p>
        </p:txBody>
      </p:sp>
      <p:sp>
        <p:nvSpPr>
          <p:cNvPr id="7" name="Text 6"/>
          <p:cNvSpPr/>
          <p:nvPr/>
        </p:nvSpPr>
        <p:spPr>
          <a:xfrm>
            <a:off x="365760" y="4736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Versionnés v1.0 → v1.5 · déposés dans /docs/cadrage/ · commits Conventional Commits répartis dans l'équipe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  <p:pic>
        <p:nvPicPr>
          <p:cNvPr id="12" name="Google Shape;212;p8" descr="backlo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015" y="1894488"/>
            <a:ext cx="4439348" cy="2123720"/>
          </a:xfrm>
          <a:prstGeom prst="rect">
            <a:avLst/>
          </a:prstGeom>
          <a:noFill/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" name="Google Shape;214;p8" descr="sprin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3440" y="1894488"/>
            <a:ext cx="4371090" cy="2123720"/>
          </a:xfrm>
          <a:prstGeom prst="rect">
            <a:avLst/>
          </a:prstGeom>
          <a:noFill/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PERTURBATION J1 · PRODUIT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enseignante débarque dans le persona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persona sans visage ? Mission (presque) impossible ! 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2651760" cy="1645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 Lefèvre (prof BTS) confirmée persona PRIMAIRE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EduTutor devient dual-usage : étudiant + enseignant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783080"/>
            <a:ext cx="265176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Repositionnement du produit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attentes (review, export PDF)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d'élargissement du scope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783080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décision MoSCoW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enseignante en Release 2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F1–F6 inchangé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07992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26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mis à jour : Note MoSCoW · Persona v1.5 · Vision Board v1.5 · Customer Journey v1.1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PERTURBATION J1 · LE PIVOT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backlog réel : les stories ajoutées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colonne « Ajoutée » trace la perturbation qui a créé chaque story. En jaune : les 4 stories ajoutées par J1.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4498848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5171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US-13 → US-16 (Epic Enseignant, v1.1) créées par la perturbation J1 · MVP F1–F6 (v1.0) inchangé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  <p:pic>
        <p:nvPicPr>
          <p:cNvPr id="13" name="Google Shape;242;p10" descr="backlog_j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591056"/>
            <a:ext cx="5279390" cy="2761488"/>
          </a:xfrm>
          <a:prstGeom prst="rect">
            <a:avLst/>
          </a:prstGeom>
          <a:noFill/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PERTURBATION J2 · TECHNIQUE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locale traîne des pieds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L'API OpenAI interdite : budget &amp; souveraineté. Et la latence explose. 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2651760" cy="1645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du LLM local (Ollama llama3.1:8b)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Jugée inacceptable en production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783080"/>
            <a:ext cx="265176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 le seuil UX de &lt; 60 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décrochage utilisateur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783080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reproductible (p50 / p95)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format Nygard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local souverain + modèle léger en repli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07992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26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mis à jour : ADR-0003 · script benchmark · Release Planning (re-estimation)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ZOOM · PERTURBATION J2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sans regretter : l'ADR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 en 5 sections (Nygard)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0020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LLM → faut-il migrer de modèle 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569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0200" y="2569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 · qwen2.5:7b · llama3.2:3b · cloud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00200" y="3081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LOCAL (souveraineté RGPD)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593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00200" y="3593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Chiffrée par le benchmark (p50/p95)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1056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Conséquences 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00200" y="4105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Réversible (1 variable d'env), qualité à surveiller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1554480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691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mesuré (5 runs)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057400"/>
          <a:ext cx="3840480" cy="7315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p95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qwen2.5:7b (7B)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10,2 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11,2 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llama3.2:3b (repli)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à mesurer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à mesurer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75488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clé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54880" y="33832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 → BIEN sous le seuil de 60 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 FR / vitesse, licence Apache 2.0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« panique latence » était infondée sur notre matériel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assumée et tracée, pas au feeling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PERTURBATION J2 · DÉCISION TECHNIQUE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backlog réel : la story ajoutée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colonne « Ajoutée » trace la perturbation qui a créé chaque story. En jaune : la story créée par J2.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4498848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5171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US-08 (moteur LLM souverain · v1.2) créée par la perturbation J2 · benchmark + ADR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  <p:pic>
        <p:nvPicPr>
          <p:cNvPr id="11" name="Google Shape;305;g3f06ccc2d93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" y="1591056"/>
            <a:ext cx="6244590" cy="2651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PERTURBATION J3 · SÉCURITÉ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qui parle trop bien à l'IA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Et si on demandait gentiment à l'IA d'oublier ses règles ? 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2651760" cy="1645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par prompt injection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LLM-01 (n°1 des risques LLM)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783080"/>
            <a:ext cx="265176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Détournement du LLM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du system prompt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malveillant généré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783080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 adversariaux (pytest)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défense en profondeur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entrées ET sorties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07992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26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mis à jour : Tests adversariaux (/tests) · Note de sécurité · code patché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PERTURBATION J4 · RGPD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données, mes droits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Anonymisation et droit d'accès : la conformité n'attend pas. 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2651760" cy="1645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d'accès RGPD (SAR)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légales encore vierges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783080"/>
            <a:ext cx="265176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légal majeur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Non-conformité → perte de crédibilité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783080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export SAR filtré par utilisateur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légales complétées (CGU, RGPD, cookies, mentions)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rétention définie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07992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26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mis à jour : Endpoint SAR (code) · 4 pages légales · politique de rétention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PERTURBATION J5 · PASSAGE À L'ÉCHELLE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succès qui fait tout exploser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L'appli explose au niveau national, l'État veut l'adopter… sous conditions. 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2651760" cy="1645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 national + intérêt de l'État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: scalabilité, RGAA, i18n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783080"/>
            <a:ext cx="265176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des serveurs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Non-conformité RGAA → refus État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mono-langue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0020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783080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pivotés (persona Lucía)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risques (matrice P×I)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+ Burnup à jour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07992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26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mis à jour : Analyse de risques v1.0 · Burndown/Burnup · Backlog v1.5 · Persona v1.5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PERTURBATION J5 · PASSAGE À L'ÉCHELLE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backlog réel : les stories ajoutées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jaune : 2 des stories créées par J5 (surcharge serveur &amp; traduction).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4498848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5171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US-21 (scale) · US-24 (a11y/RGAA) · US-27 (i18n) — v1.5, créées par la perturbation J5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  <p:pic>
        <p:nvPicPr>
          <p:cNvPr id="11" name="Google Shape;363;g3f06ccc2d93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" y="1671622"/>
            <a:ext cx="8321040" cy="1287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TRAÇABILITÉ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artefacts ont vécu chaque perturbation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3677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367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v1.0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43000" y="1600200"/>
            <a:ext cx="7635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1645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· 29/06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16459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artefacts initiaux (vision, personas, story map, backlog…)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8541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854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v1.1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43000" y="2148840"/>
            <a:ext cx="7635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80160" y="2194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Produit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219456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enseignante confirmée PRIMAIRE (MoSCoW)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3405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340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</a:rPr>
              <a:t>v1.2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43000" y="2697480"/>
            <a:ext cx="7635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80160" y="2743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Technique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2743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moteur LLM tracée dans l'ADR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8269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826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v1.3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43000" y="3246120"/>
            <a:ext cx="7635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80160" y="3291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Sécurité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17520" y="32918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&amp; tests prompt injection (OWASP LLM-01)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3133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313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v1.4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43000" y="3794760"/>
            <a:ext cx="7635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80160" y="3840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RGPD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17520" y="38404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SAR, pages légales, rétention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37997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799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</a:rPr>
              <a:t>v1.5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43000" y="4343400"/>
            <a:ext cx="7635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280160" y="4389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Échelle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17520" y="43891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a11y + i18n · analyse de risques · pilotage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ZOOM · PILOTAGE J5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&amp; avancement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risques — Probabilité × Impact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43566"/>
              </p:ext>
            </p:extLst>
          </p:nvPr>
        </p:nvGraphicFramePr>
        <p:xfrm>
          <a:off x="365760" y="1691640"/>
          <a:ext cx="402336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Faible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Moyen (2)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Fort (3)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Élevée (3)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 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 R5 (expo 6)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 R1 (expo 9)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Moyenne (2)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 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 R7 (expo 4)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 R2,R3,R4 (expo 6)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Faible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 R8 (expo 2)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 R6 (expo 3)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200400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 : traiter en priorité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3456432"/>
            <a:ext cx="1828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3456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: surveiller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3720846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372084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: accepter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Burnup — périmètre vs réalisé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0" y="326720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— sprint en cours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  <p:pic>
        <p:nvPicPr>
          <p:cNvPr id="19" name="Google Shape;409;p17" descr="burnu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1691640"/>
            <a:ext cx="3257550" cy="1575562"/>
          </a:xfrm>
          <a:prstGeom prst="rect">
            <a:avLst/>
          </a:prstGeom>
          <a:noFill/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" name="Google Shape;411;p17" descr="burndow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541522"/>
            <a:ext cx="3257550" cy="1468628"/>
          </a:xfrm>
          <a:prstGeom prst="rect">
            <a:avLst/>
          </a:prstGeom>
          <a:noFill/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647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5200" dirty="0">
              <a:solidFill>
                <a:srgbClr val="6470C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02336" y="331012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32E4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33101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F1 Auth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82496" y="34198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47088" y="331012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32E4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33101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F2 Upload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27248" y="34198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31012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32E4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3101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F3 Génération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34198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36592" y="331012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32E4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33101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F4 Quiz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16752" y="34198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331012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32E4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33101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F5 Score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61504" y="34198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26096" y="331012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32E4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6096" y="33101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</a:rPr>
              <a:t>F6 Historique</a:t>
            </a:r>
            <a:endParaRPr lang="en-US" sz="1050" dirty="0"/>
          </a:p>
        </p:txBody>
      </p:sp>
      <p:sp>
        <p:nvSpPr>
          <p:cNvPr id="22" name="Shape 0"/>
          <p:cNvSpPr/>
          <p:nvPr/>
        </p:nvSpPr>
        <p:spPr>
          <a:xfrm>
            <a:off x="0" y="2286000"/>
            <a:ext cx="9144000" cy="731520"/>
          </a:xfrm>
          <a:prstGeom prst="rect">
            <a:avLst/>
          </a:prstGeom>
          <a:solidFill>
            <a:srgbClr val="2D3A5C"/>
          </a:solidFill>
          <a:ln w="12700">
            <a:solidFill>
              <a:srgbClr val="2D3A5C"/>
            </a:solidFill>
            <a:prstDash val="solid"/>
          </a:ln>
        </p:spPr>
      </p:sp>
      <p:sp>
        <p:nvSpPr>
          <p:cNvPr id="23" name="Text 2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complet F1 → F6 en direct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CONCLUSION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semaine nous a appris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22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733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6550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livré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9280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F1–F6 (tag v1.0.0-mvp) + Release 2 (v1.1.0)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21992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951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2768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perturbations absorbées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dériver — artefacts tracés v1.0 → v1.5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43784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9169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8986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documentées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1363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MoSCoW, ADR, analyse de risques, burndown/burnup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65576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538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 &amp; accessibilité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75818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et RGAA au cœur du produit dès la conception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160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41422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agile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37997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le changement plutôt que le subir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D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</a:rPr>
              <a:t>RÉTROSPECTIVE · ÉQUIPE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retient de la semaine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914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1A3A2E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70992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359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bien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" y="2902458"/>
            <a:ext cx="35295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F1–F6 livré sans dériver malgré 5 perturbations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décisions tracées — ADR, notes MoSCoW, analyse de risques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versionnés v1.0 → v1.5 à chaque choc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réactive et cohésive sous pression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 RGPD respectée dès la conception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3A2E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099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2359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améliorerait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56048" y="2761488"/>
            <a:ext cx="35295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Mieux estimer les stories dès le sprint 1 (burndown décalé dès J3)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tests de charge plutôt qu'en faire un sprint dédié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Répartir la charge frontend plus tôt pour éviter les goulots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Formaliser les DoR plus strictement avant chaque sprint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Mieux timeboxer les discussions techniques en daily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On n'a pas subi la semaine — on l'a pilotée. »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APOCAL'IPSSI 2026 · EduTutor IA · Équipe 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232E4A"/>
          </a:solidFill>
          <a:ln w="12700">
            <a:solidFill>
              <a:srgbClr val="23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0756" y="836676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45582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3 · EduTutor IA · APOCAL'IPSSI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1300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Dillon AZAG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86052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JANSEN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30804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Nassim DEFLANDRE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5556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Erwan MARCHAND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20308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Rayan D. WAFO MBE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65060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Youcef OULD KACI</a:t>
            </a:r>
            <a:endParaRPr lang="en-US" sz="1200" dirty="0"/>
          </a:p>
        </p:txBody>
      </p:sp>
      <p:sp>
        <p:nvSpPr>
          <p:cNvPr id="14" name="Shape 0"/>
          <p:cNvSpPr/>
          <p:nvPr/>
        </p:nvSpPr>
        <p:spPr>
          <a:xfrm>
            <a:off x="3556" y="2116836"/>
            <a:ext cx="9144000" cy="731520"/>
          </a:xfrm>
          <a:prstGeom prst="rect">
            <a:avLst/>
          </a:prstGeom>
          <a:solidFill>
            <a:srgbClr val="2D3A5C"/>
          </a:solidFill>
          <a:ln w="12700">
            <a:solidFill>
              <a:srgbClr val="2D3A5C"/>
            </a:solidFill>
            <a:prstDash val="solid"/>
          </a:ln>
        </p:spPr>
      </p:sp>
      <p:sp>
        <p:nvSpPr>
          <p:cNvPr id="15" name="Text 1"/>
          <p:cNvSpPr/>
          <p:nvPr/>
        </p:nvSpPr>
        <p:spPr>
          <a:xfrm>
            <a:off x="460756" y="202539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Avez-vous des questions ?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2033</Words>
  <Application>Microsoft Office PowerPoint</Application>
  <PresentationFormat>Affichage à l'écran (16:9)</PresentationFormat>
  <Paragraphs>403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Steven</cp:lastModifiedBy>
  <cp:revision>4</cp:revision>
  <dcterms:created xsi:type="dcterms:W3CDTF">2026-07-02T16:29:17Z</dcterms:created>
  <dcterms:modified xsi:type="dcterms:W3CDTF">2026-07-02T16:57:30Z</dcterms:modified>
</cp:coreProperties>
</file>